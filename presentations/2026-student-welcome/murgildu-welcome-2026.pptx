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photographs: supplied presentation, slide 5. Team portraits and names: local MURGILDU website author profiles. General lab information: supplied presentation and site contact page. Website: https://murgildu.github.io/</a:t>
            </a:r>
          </a:p>
          <a:p>
            <a:r>
              <a:t>Original presentation: https://docs.google.com/presentation/d/1eS09sbmh8s3pvsqib_2wOWm0rNBwVszZyWN-RD-Xn2I/edit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Official source, checked 17 September 2026: https://itch.io/jam/godot-xr-game-jam-sep-2026</a:t>
            </a:r>
          </a:p>
          <a:p>
            <a:r>
              <a:t>Submission window displayed by itch.io: 21 September 2026 00:00 to 28 September 2026 00:00. Exact local times should be checked on the event page. Theme announced at start. Any Godot version; AR/VR entry; supported platform required. Toolkits, template projects and asset packs allowed, but do not reuse an existing game project. Voting follows submissions. Cover/logo credit on the official page: Daniel SND; Godot Plush by Fr3nkd. No local lab event schedule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Anatomy image: supplied lab presentation, slide 11. Project directions summarise the user-supplied 2026–2027 medical proposals: anatomical reconstruction, medical scan viewing, EEG/fatigue visualisation, immersive annotation, simulated practice, interaction and evaluation. These are educational/research project ideas. Portraits and emails are from the local author profiles. Website: https://murgildu.github.io/proposals/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 and both illustrations supplied in the optimisation document: https://docs.google.com/document/d/1WAJudzh3GA8g3tmQVcMx86lFYybXgw2pTtFSYCXaGFI/edit</a:t>
            </a:r>
          </a:p>
          <a:p>
            <a:r>
              <a:t>TFG: regular rectangular containers and objects in an interactive VR environment. TFM: irregular case, combining heuristics or machine-learning methods with user interaction in 3D or VR. The document contains low-resolution raster figures, reproduced without modifying their content. Contact and portrait: local Andoni Mujika author profile.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urgildu.github.io/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jpg"/><Relationship Id="rId9" Type="http://schemas.openxmlformats.org/officeDocument/2006/relationships/image" Target="../media/image7.jpg"/><Relationship Id="rId10" Type="http://schemas.openxmlformats.org/officeDocument/2006/relationships/image" Target="../media/image8.jpg"/><Relationship Id="rId11" Type="http://schemas.openxmlformats.org/officeDocument/2006/relationships/image" Target="../media/image9.jpg"/><Relationship Id="rId12" Type="http://schemas.openxmlformats.org/officeDocument/2006/relationships/image" Target="../media/image10.jpg"/><Relationship Id="rId13" Type="http://schemas.openxmlformats.org/officeDocument/2006/relationships/image" Target="../media/image11.jpg"/><Relationship Id="rId1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hyperlink" Target="https://itch.io/jam/godot-xr-game-jam-sep-2026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5.jpg"/><Relationship Id="rId4" Type="http://schemas.openxmlformats.org/officeDocument/2006/relationships/hyperlink" Target="mailto:inigo.lopez@ehu.eus" TargetMode="External"/><Relationship Id="rId5" Type="http://schemas.openxmlformats.org/officeDocument/2006/relationships/image" Target="../media/image6.jpg"/><Relationship Id="rId6" Type="http://schemas.openxmlformats.org/officeDocument/2006/relationships/hyperlink" Target="mailto:unai.elordi@ehu.eus" TargetMode="External"/><Relationship Id="rId7" Type="http://schemas.openxmlformats.org/officeDocument/2006/relationships/image" Target="../media/image7.jpg"/><Relationship Id="rId8" Type="http://schemas.openxmlformats.org/officeDocument/2006/relationships/hyperlink" Target="mailto:elsa.fernandez@ehu.eus" TargetMode="External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8.jpg"/><Relationship Id="rId5" Type="http://schemas.openxmlformats.org/officeDocument/2006/relationships/hyperlink" Target="mailto:andoni.mujika@ehu.eus" TargetMode="Externa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93192"/>
            <a:ext cx="347472" cy="64008"/>
          </a:xfrm>
          <a:prstGeom prst="rect">
            <a:avLst/>
          </a:prstGeom>
          <a:solidFill>
            <a:srgbClr val="F74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01752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E0C1"/>
                </a:solidFill>
                <a:latin typeface="Inter"/>
              </a:rPr>
              <a:t>WELCOME TO THE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790688"/>
            <a:ext cx="13441680" cy="10972"/>
          </a:xfrm>
          <a:prstGeom prst="rect">
            <a:avLst/>
          </a:prstGeom>
          <a:solidFill>
            <a:srgbClr val="1B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909560"/>
            <a:ext cx="6400800" cy="1737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7D5DF"/>
                </a:solidFill>
                <a:latin typeface="Inter"/>
              </a:rPr>
              <a:t>MURGILDU  /  EHU  /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0" y="7882127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5DF"/>
                </a:solidFill>
                <a:latin typeface="Inter"/>
              </a:rPr>
              <a:t>01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86968"/>
            <a:ext cx="65836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5700" b="1">
                <a:solidFill>
                  <a:srgbClr val="FFFFFF"/>
                </a:solidFill>
                <a:latin typeface="Inter"/>
              </a:rPr>
              <a:t>MURGILDU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19656"/>
            <a:ext cx="6400800" cy="10424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FFFFFF"/>
                </a:solidFill>
                <a:latin typeface="Inter"/>
              </a:rPr>
              <a:t>A space for 3D, VR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FFFFFF"/>
                </a:solidFill>
                <a:latin typeface="Inter"/>
              </a:rPr>
              <a:t>and curious minds.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980944"/>
            <a:ext cx="6217920" cy="758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C7D5DF"/>
                </a:solidFill>
                <a:latin typeface="Inter"/>
              </a:rPr>
              <a:t>Create games and immersive experiences.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C7D5DF"/>
                </a:solidFill>
                <a:latin typeface="Inter"/>
              </a:rPr>
              <a:t>Explore graphics, AI and 3D modelling.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941063"/>
            <a:ext cx="6355080" cy="594360"/>
          </a:xfrm>
          <a:prstGeom prst="roundRect">
            <a:avLst>
              <a:gd name="adj" fmla="val 7000"/>
            </a:avLst>
          </a:prstGeom>
          <a:solidFill>
            <a:srgbClr val="1B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087368"/>
            <a:ext cx="59436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FFFF"/>
                </a:solidFill>
                <a:latin typeface="Inter"/>
              </a:rPr>
              <a:t>Degree (TFG)  ·  Master’s (TFM)  · 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745736"/>
            <a:ext cx="5257800" cy="6309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7D5DF"/>
                </a:solidFill>
                <a:latin typeface="Inter"/>
              </a:rPr>
              <a:t>Faculty of Informatics · EHU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7D5DF"/>
                </a:solidFill>
                <a:latin typeface="Inter"/>
              </a:rPr>
              <a:t>Lab E08 · Donostia–San Sebastián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621792" y="5486400"/>
            <a:ext cx="5440680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4FE0C1"/>
                </a:solidFill>
                <a:latin typeface="Inter"/>
              </a:rPr>
              <a:t>murgildu.github.io</a:t>
            </a:r>
          </a:p>
        </p:txBody>
      </p:sp>
      <p:pic>
        <p:nvPicPr>
          <p:cNvPr id="14" name="Picture 13" descr="website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4745736"/>
            <a:ext cx="1024128" cy="1024128"/>
          </a:xfrm>
          <a:prstGeom prst="rect">
            <a:avLst/>
          </a:prstGeom>
        </p:spPr>
      </p:pic>
      <p:pic>
        <p:nvPicPr>
          <p:cNvPr id="15" name="Picture 14" descr="slide-05-image-03.jpg"/>
          <p:cNvPicPr>
            <a:picLocks noChangeAspect="1"/>
          </p:cNvPicPr>
          <p:nvPr/>
        </p:nvPicPr>
        <p:blipFill>
          <a:blip r:embed="rId4"/>
          <a:srcRect t="31462" b="7865"/>
          <a:stretch>
            <a:fillRect/>
          </a:stretch>
        </p:blipFill>
        <p:spPr>
          <a:xfrm>
            <a:off x="7424927" y="822960"/>
            <a:ext cx="6611112" cy="3008376"/>
          </a:xfrm>
          <a:prstGeom prst="roundRect">
            <a:avLst>
              <a:gd name="adj" fmla="val 5000"/>
            </a:avLst>
          </a:prstGeom>
        </p:spPr>
      </p:pic>
      <p:pic>
        <p:nvPicPr>
          <p:cNvPr id="16" name="Picture 15" descr="slide-05-image-04.jpg"/>
          <p:cNvPicPr>
            <a:picLocks noChangeAspect="1"/>
          </p:cNvPicPr>
          <p:nvPr/>
        </p:nvPicPr>
        <p:blipFill>
          <a:blip r:embed="rId5"/>
          <a:srcRect t="10326" b="12620"/>
          <a:stretch>
            <a:fillRect/>
          </a:stretch>
        </p:blipFill>
        <p:spPr>
          <a:xfrm>
            <a:off x="7424927" y="3977639"/>
            <a:ext cx="3227832" cy="1865376"/>
          </a:xfrm>
          <a:prstGeom prst="roundRect">
            <a:avLst>
              <a:gd name="adj" fmla="val 5000"/>
            </a:avLst>
          </a:prstGeom>
        </p:spPr>
      </p:pic>
      <p:pic>
        <p:nvPicPr>
          <p:cNvPr id="17" name="Picture 16" descr="slide-05-image-02.jpg"/>
          <p:cNvPicPr>
            <a:picLocks noChangeAspect="1"/>
          </p:cNvPicPr>
          <p:nvPr/>
        </p:nvPicPr>
        <p:blipFill>
          <a:blip r:embed="rId6"/>
          <a:srcRect t="13768" b="9178"/>
          <a:stretch>
            <a:fillRect/>
          </a:stretch>
        </p:blipFill>
        <p:spPr>
          <a:xfrm>
            <a:off x="10808208" y="3977639"/>
            <a:ext cx="3227832" cy="1865376"/>
          </a:xfrm>
          <a:prstGeom prst="roundRect">
            <a:avLst>
              <a:gd name="adj" fmla="val 5000"/>
            </a:avLst>
          </a:prstGeom>
        </p:spPr>
      </p:pic>
      <p:sp>
        <p:nvSpPr>
          <p:cNvPr id="18" name="Rectangle 17"/>
          <p:cNvSpPr/>
          <p:nvPr/>
        </p:nvSpPr>
        <p:spPr>
          <a:xfrm>
            <a:off x="594360" y="6172200"/>
            <a:ext cx="13441680" cy="12801"/>
          </a:xfrm>
          <a:prstGeom prst="rect">
            <a:avLst/>
          </a:prstGeom>
          <a:solidFill>
            <a:srgbClr val="1B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3093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FE0C1"/>
                </a:solidFill>
                <a:latin typeface="Inter"/>
              </a:rPr>
              <a:t>MEET THE TEAM</a:t>
            </a:r>
          </a:p>
        </p:txBody>
      </p:sp>
      <p:pic>
        <p:nvPicPr>
          <p:cNvPr id="20" name="Picture 19" descr="avatar.jp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52144" y="6611112"/>
            <a:ext cx="795528" cy="795528"/>
          </a:xfrm>
          <a:prstGeom prst="ellipse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1792" y="7452360"/>
            <a:ext cx="1856231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Inigo Lopez-Gazpio</a:t>
            </a:r>
          </a:p>
        </p:txBody>
      </p:sp>
      <p:pic>
        <p:nvPicPr>
          <p:cNvPr id="22" name="Picture 21" descr="avatar.jp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081528" y="6611112"/>
            <a:ext cx="795528" cy="795528"/>
          </a:xfrm>
          <a:prstGeom prst="ellipse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551176" y="7452360"/>
            <a:ext cx="1856231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Unai Elordi</a:t>
            </a:r>
          </a:p>
        </p:txBody>
      </p:sp>
      <p:pic>
        <p:nvPicPr>
          <p:cNvPr id="24" name="Picture 23" descr="avatar.jp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5010912" y="6611112"/>
            <a:ext cx="795528" cy="795528"/>
          </a:xfrm>
          <a:prstGeom prst="ellipse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480559" y="7452360"/>
            <a:ext cx="1856231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Elsa Fernández</a:t>
            </a:r>
          </a:p>
        </p:txBody>
      </p:sp>
      <p:pic>
        <p:nvPicPr>
          <p:cNvPr id="26" name="Picture 25" descr="avatar.jp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940296" y="6611112"/>
            <a:ext cx="795528" cy="795528"/>
          </a:xfrm>
          <a:prstGeom prst="ellipse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09944" y="7452360"/>
            <a:ext cx="1856231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Andoni Mujika</a:t>
            </a:r>
          </a:p>
        </p:txBody>
      </p:sp>
      <p:pic>
        <p:nvPicPr>
          <p:cNvPr id="28" name="Picture 27" descr="avatar.jp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8869680" y="6611112"/>
            <a:ext cx="795528" cy="795528"/>
          </a:xfrm>
          <a:prstGeom prst="ellipse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339327" y="7452360"/>
            <a:ext cx="1856231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Borja Calvo</a:t>
            </a:r>
          </a:p>
        </p:txBody>
      </p:sp>
      <p:pic>
        <p:nvPicPr>
          <p:cNvPr id="30" name="Picture 29" descr="avatar.jp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10799063" y="6611112"/>
            <a:ext cx="795528" cy="795528"/>
          </a:xfrm>
          <a:prstGeom prst="ellipse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268711" y="7452360"/>
            <a:ext cx="1856231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Igor Rodriguez</a:t>
            </a:r>
          </a:p>
        </p:txBody>
      </p:sp>
      <p:pic>
        <p:nvPicPr>
          <p:cNvPr id="32" name="Picture 31" descr="avatar.jpg"/>
          <p:cNvPicPr>
            <a:picLocks noChangeAspect="1"/>
          </p:cNvPicPr>
          <p:nvPr/>
        </p:nvPicPr>
        <p:blipFill>
          <a:blip r:embed="rId13"/>
          <a:srcRect t="4967" b="9225"/>
          <a:stretch>
            <a:fillRect/>
          </a:stretch>
        </p:blipFill>
        <p:spPr>
          <a:xfrm>
            <a:off x="12728448" y="6611112"/>
            <a:ext cx="795528" cy="795528"/>
          </a:xfrm>
          <a:prstGeom prst="ellipse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198096" y="7452360"/>
            <a:ext cx="1856231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Eneko Atxa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93192"/>
            <a:ext cx="347472" cy="64008"/>
          </a:xfrm>
          <a:prstGeom prst="rect">
            <a:avLst/>
          </a:prstGeom>
          <a:solidFill>
            <a:srgbClr val="F74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01752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E0C1"/>
                </a:solidFill>
                <a:latin typeface="Inter"/>
              </a:rPr>
              <a:t>NEXT WEEK · GODOT XR COMMUNITY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790688"/>
            <a:ext cx="13441680" cy="10972"/>
          </a:xfrm>
          <a:prstGeom prst="rect">
            <a:avLst/>
          </a:prstGeom>
          <a:solidFill>
            <a:srgbClr val="1B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909560"/>
            <a:ext cx="6400800" cy="1737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7D5DF"/>
                </a:solidFill>
                <a:latin typeface="Inter"/>
              </a:rPr>
              <a:t>MURGILDU  /  EHU  /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0" y="7882127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5DF"/>
                </a:solidFill>
                <a:latin typeface="Inter"/>
              </a:rPr>
              <a:t>02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14400"/>
            <a:ext cx="83210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Inter"/>
              </a:rPr>
              <a:t>One week.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Inter"/>
              </a:rPr>
              <a:t>Your first XR game.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532888"/>
            <a:ext cx="6995160" cy="621792"/>
          </a:xfrm>
          <a:prstGeom prst="roundRect">
            <a:avLst>
              <a:gd name="adj" fmla="val 7000"/>
            </a:avLst>
          </a:prstGeom>
          <a:solidFill>
            <a:srgbClr val="4FE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6974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02535"/>
                </a:solidFill>
                <a:latin typeface="Inter"/>
              </a:rPr>
              <a:t>21–28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438144"/>
            <a:ext cx="6995160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Inter"/>
              </a:rPr>
              <a:t>Build an AR or VR game in Godot.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Inter"/>
              </a:rPr>
              <a:t>The theme is revealed when the jam starts.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5171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FE0C1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451713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JOIN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4503420"/>
            <a:ext cx="512064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7D5DF"/>
                </a:solidFill>
                <a:latin typeface="Inter"/>
              </a:rPr>
              <a:t>Create an itch.io account and join the jam.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24865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FE0C1"/>
                </a:solidFill>
                <a:latin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524865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MAKE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0008" y="5234940"/>
            <a:ext cx="512064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7D5DF"/>
                </a:solidFill>
                <a:latin typeface="Inter"/>
              </a:rPr>
              <a:t>Pick one mechanic and a supported XR platform.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8017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FE0C1"/>
                </a:solidFill>
                <a:latin typeface="Inte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598017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0008" y="5966460"/>
            <a:ext cx="512064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7D5DF"/>
                </a:solidFill>
                <a:latin typeface="Inter"/>
              </a:rPr>
              <a:t>Submit your game, then play and rate other entries.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793992"/>
            <a:ext cx="694944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C7D5DF"/>
                </a:solidFill>
                <a:latin typeface="Inter"/>
              </a:rPr>
              <a:t>Templates and asset packs are welcome.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C7D5DF"/>
                </a:solidFill>
                <a:latin typeface="Inter"/>
              </a:rPr>
              <a:t>Start a new game for the announced theme.</a:t>
            </a:r>
          </a:p>
        </p:txBody>
      </p:sp>
      <p:pic>
        <p:nvPicPr>
          <p:cNvPr id="21" name="Picture 20" descr="jam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747" y="914400"/>
            <a:ext cx="5760720" cy="4572000"/>
          </a:xfrm>
          <a:prstGeom prst="roundRect">
            <a:avLst>
              <a:gd name="adj" fmla="val 5000"/>
            </a:avLst>
          </a:prstGeom>
        </p:spPr>
      </p:pic>
      <p:sp>
        <p:nvSpPr>
          <p:cNvPr id="22" name="TextBox 21"/>
          <p:cNvSpPr txBox="1"/>
          <p:nvPr/>
        </p:nvSpPr>
        <p:spPr>
          <a:xfrm>
            <a:off x="8284464" y="5504688"/>
            <a:ext cx="56692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7D5DF"/>
                </a:solidFill>
                <a:latin typeface="Inter"/>
              </a:rPr>
              <a:t>Cover art: Daniel SND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5715000"/>
            <a:ext cx="56692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FE0C1"/>
                </a:solidFill>
                <a:latin typeface="Inter"/>
              </a:rPr>
              <a:t>GODOT XR GAME JAM · SIXTH EDITION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6208776"/>
            <a:ext cx="443484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Inter"/>
              </a:rPr>
              <a:t>Hosted by the Godot XR Community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Inter"/>
              </a:rPr>
              <a:t>and Bastiaan Olij</a:t>
            </a:r>
          </a:p>
        </p:txBody>
      </p:sp>
      <p:pic>
        <p:nvPicPr>
          <p:cNvPr id="25" name="Picture 24" descr="jam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1872" y="6199632"/>
            <a:ext cx="1325880" cy="1325880"/>
          </a:xfrm>
          <a:prstGeom prst="rect">
            <a:avLst/>
          </a:prstGeom>
        </p:spPr>
      </p:pic>
      <p:sp>
        <p:nvSpPr>
          <p:cNvPr id="26" name="TextBox 25">
            <a:hlinkClick r:id="rId4"/>
          </p:cNvPr>
          <p:cNvSpPr txBox="1"/>
          <p:nvPr/>
        </p:nvSpPr>
        <p:spPr>
          <a:xfrm>
            <a:off x="10122408" y="71780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FE0C1"/>
                </a:solidFill>
                <a:latin typeface="Inter"/>
              </a:rPr>
              <a:t>Scan to join →</a:t>
            </a:r>
          </a:p>
        </p:txBody>
      </p:sp>
      <p:sp>
        <p:nvSpPr>
          <p:cNvPr id="27" name="TextBox 26">
            <a:hlinkClick r:id="rId4"/>
          </p:cNvPr>
          <p:cNvSpPr txBox="1"/>
          <p:nvPr/>
        </p:nvSpPr>
        <p:spPr>
          <a:xfrm>
            <a:off x="8284464" y="7571231"/>
            <a:ext cx="53035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7D5DF"/>
                </a:solidFill>
                <a:latin typeface="Inter"/>
              </a:rPr>
              <a:t>Official jam page · dates and local deadline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93192"/>
            <a:ext cx="347472" cy="64008"/>
          </a:xfrm>
          <a:prstGeom prst="rect">
            <a:avLst/>
          </a:prstGeom>
          <a:solidFill>
            <a:srgbClr val="F74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01752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667C"/>
                </a:solidFill>
                <a:latin typeface="Inter"/>
              </a:rPr>
              <a:t>STUDENT PROJECTS · MEDICAL XR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790688"/>
            <a:ext cx="13441680" cy="10972"/>
          </a:xfrm>
          <a:prstGeom prst="rect">
            <a:avLst/>
          </a:prstGeom>
          <a:solidFill>
            <a:srgbClr val="DC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909560"/>
            <a:ext cx="6400800" cy="1737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779"/>
                </a:solidFill>
                <a:latin typeface="Inter"/>
              </a:rPr>
              <a:t>MURGILDU  /  EHU  /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0" y="7882127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6779"/>
                </a:solidFill>
                <a:latin typeface="Inter"/>
              </a:rPr>
              <a:t>03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77824"/>
            <a:ext cx="13395960" cy="1261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4100" b="1">
                <a:solidFill>
                  <a:srgbClr val="142C3C"/>
                </a:solidFill>
                <a:latin typeface="Inter"/>
              </a:rPr>
              <a:t>Graphics technologies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4100" b="1">
                <a:solidFill>
                  <a:srgbClr val="142C3C"/>
                </a:solidFill>
                <a:latin typeface="Inter"/>
              </a:rPr>
              <a:t>applied to healthcare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240280"/>
            <a:ext cx="133502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526779"/>
                </a:solidFill>
                <a:latin typeface="Inter"/>
              </a:rPr>
              <a:t>Make complex data easier to see, explore and understand.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962656"/>
            <a:ext cx="5184648" cy="2761488"/>
          </a:xfrm>
          <a:prstGeom prst="roundRect">
            <a:avLst>
              <a:gd name="adj" fmla="val 7000"/>
            </a:avLst>
          </a:prstGeom>
          <a:solidFill>
            <a:srgbClr val="F5F8FA"/>
          </a:solidFill>
          <a:ln w="8890">
            <a:solidFill>
              <a:srgbClr val="DC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-11-im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099816"/>
            <a:ext cx="4462272" cy="22311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" y="5477256"/>
            <a:ext cx="4773168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26779"/>
                </a:solidFill>
                <a:latin typeface="Inter"/>
              </a:rPr>
              <a:t>From medical images to interactive 3D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8" y="3012948"/>
            <a:ext cx="59436" cy="694944"/>
          </a:xfrm>
          <a:prstGeom prst="rect">
            <a:avLst/>
          </a:prstGeom>
          <a:solidFill>
            <a:srgbClr val="008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2962656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C667C"/>
                </a:solidFill>
                <a:latin typeface="Inter"/>
              </a:rPr>
              <a:t>VISUALISE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3376" y="2935224"/>
            <a:ext cx="5285232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C3C"/>
                </a:solidFill>
                <a:latin typeface="Inter"/>
              </a:rPr>
              <a:t>Reconstruct anatomy and explore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C3C"/>
                </a:solidFill>
                <a:latin typeface="Inter"/>
              </a:rPr>
              <a:t>medical scans, EEG or fatigue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81928" y="3927348"/>
            <a:ext cx="59436" cy="694944"/>
          </a:xfrm>
          <a:prstGeom prst="rect">
            <a:avLst/>
          </a:prstGeom>
          <a:solidFill>
            <a:srgbClr val="008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3877056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C667C"/>
                </a:solidFill>
                <a:latin typeface="Inter"/>
              </a:rPr>
              <a:t>INTERACT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23376" y="3849624"/>
            <a:ext cx="5285232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C3C"/>
                </a:solidFill>
                <a:latin typeface="Inter"/>
              </a:rPr>
              <a:t>Annotate in 3D and create immersive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C3C"/>
                </a:solidFill>
                <a:latin typeface="Inter"/>
              </a:rPr>
              <a:t>learning or simulated practice tasks.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1928" y="4841748"/>
            <a:ext cx="59436" cy="694944"/>
          </a:xfrm>
          <a:prstGeom prst="rect">
            <a:avLst/>
          </a:prstGeom>
          <a:solidFill>
            <a:srgbClr val="008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4791456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C667C"/>
                </a:solidFill>
                <a:latin typeface="Inter"/>
              </a:rP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3376" y="4764024"/>
            <a:ext cx="5285232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C3C"/>
                </a:solidFill>
                <a:latin typeface="Inter"/>
              </a:rPr>
              <a:t>Compare tools and study how people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C3C"/>
                </a:solidFill>
                <a:latin typeface="Inter"/>
              </a:rPr>
              <a:t>understand and use the experience.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888736"/>
            <a:ext cx="13350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C667C"/>
                </a:solidFill>
                <a:latin typeface="Inter"/>
              </a:rPr>
              <a:t>TFG / TFM  ·  3D modelling, VR, data visualisation and interaction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6510528"/>
            <a:ext cx="4334256" cy="1005840"/>
          </a:xfrm>
          <a:prstGeom prst="roundRect">
            <a:avLst>
              <a:gd name="adj" fmla="val 7000"/>
            </a:avLst>
          </a:prstGeom>
          <a:solidFill>
            <a:srgbClr val="F5F8FA"/>
          </a:solidFill>
          <a:ln w="8890">
            <a:solidFill>
              <a:srgbClr val="DC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vatar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58952" y="6629400"/>
            <a:ext cx="768096" cy="768096"/>
          </a:xfrm>
          <a:prstGeom prst="ellipse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73352" y="6675120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142C3C"/>
                </a:solidFill>
                <a:latin typeface="Inter"/>
              </a:rPr>
              <a:t>Inigo Lopez-Gazpio</a:t>
            </a:r>
          </a:p>
        </p:txBody>
      </p:sp>
      <p:sp>
        <p:nvSpPr>
          <p:cNvPr id="25" name="TextBox 24">
            <a:hlinkClick r:id="rId4"/>
          </p:cNvPr>
          <p:cNvSpPr txBox="1"/>
          <p:nvPr/>
        </p:nvSpPr>
        <p:spPr>
          <a:xfrm>
            <a:off x="1673352" y="709574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C667C"/>
                </a:solidFill>
                <a:latin typeface="Inter"/>
              </a:rPr>
              <a:t>inigo.lopez@ehu.eus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75504" y="6510528"/>
            <a:ext cx="4334256" cy="1005840"/>
          </a:xfrm>
          <a:prstGeom prst="roundRect">
            <a:avLst>
              <a:gd name="adj" fmla="val 7000"/>
            </a:avLst>
          </a:prstGeom>
          <a:solidFill>
            <a:srgbClr val="F5F8FA"/>
          </a:solidFill>
          <a:ln w="8890">
            <a:solidFill>
              <a:srgbClr val="DC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avatar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312664" y="6629400"/>
            <a:ext cx="768096" cy="768096"/>
          </a:xfrm>
          <a:prstGeom prst="ellipse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27064" y="6675120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142C3C"/>
                </a:solidFill>
                <a:latin typeface="Inter"/>
              </a:rPr>
              <a:t>Unai Elordi</a:t>
            </a:r>
          </a:p>
        </p:txBody>
      </p:sp>
      <p:sp>
        <p:nvSpPr>
          <p:cNvPr id="29" name="TextBox 28">
            <a:hlinkClick r:id="rId6"/>
          </p:cNvPr>
          <p:cNvSpPr txBox="1"/>
          <p:nvPr/>
        </p:nvSpPr>
        <p:spPr>
          <a:xfrm>
            <a:off x="6227064" y="709574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C667C"/>
                </a:solidFill>
                <a:latin typeface="Inter"/>
              </a:rPr>
              <a:t>unai.elordi@ehu.eus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29216" y="6510528"/>
            <a:ext cx="4334256" cy="1005840"/>
          </a:xfrm>
          <a:prstGeom prst="roundRect">
            <a:avLst>
              <a:gd name="adj" fmla="val 7000"/>
            </a:avLst>
          </a:prstGeom>
          <a:solidFill>
            <a:srgbClr val="F5F8FA"/>
          </a:solidFill>
          <a:ln w="8890">
            <a:solidFill>
              <a:srgbClr val="DC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vatar.jp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866376" y="6629400"/>
            <a:ext cx="768096" cy="768096"/>
          </a:xfrm>
          <a:prstGeom prst="ellipse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780776" y="6675120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142C3C"/>
                </a:solidFill>
                <a:latin typeface="Inter"/>
              </a:rPr>
              <a:t>Elsa Fernández</a:t>
            </a:r>
          </a:p>
        </p:txBody>
      </p:sp>
      <p:sp>
        <p:nvSpPr>
          <p:cNvPr id="33" name="TextBox 32">
            <a:hlinkClick r:id="rId8"/>
          </p:cNvPr>
          <p:cNvSpPr txBox="1"/>
          <p:nvPr/>
        </p:nvSpPr>
        <p:spPr>
          <a:xfrm>
            <a:off x="10780776" y="709574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C667C"/>
                </a:solidFill>
                <a:latin typeface="Inter"/>
              </a:rPr>
              <a:t>elsa.fernandez@ehu.eus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93192"/>
            <a:ext cx="347472" cy="64008"/>
          </a:xfrm>
          <a:prstGeom prst="rect">
            <a:avLst/>
          </a:prstGeom>
          <a:solidFill>
            <a:srgbClr val="F74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301752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667C"/>
                </a:solidFill>
                <a:latin typeface="Inter"/>
              </a:rPr>
              <a:t>STUDENT PROJECTS · 3D OPTIMISATION + VR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790688"/>
            <a:ext cx="13441680" cy="10972"/>
          </a:xfrm>
          <a:prstGeom prst="rect">
            <a:avLst/>
          </a:prstGeom>
          <a:solidFill>
            <a:srgbClr val="DC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909560"/>
            <a:ext cx="6400800" cy="1737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779"/>
                </a:solidFill>
                <a:latin typeface="Inter"/>
              </a:rPr>
              <a:t>MURGILDU  /  EHU  /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0" y="7882127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6779"/>
                </a:solidFill>
                <a:latin typeface="Inter"/>
              </a:rPr>
              <a:t>04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14400"/>
            <a:ext cx="133502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4900" b="1">
                <a:solidFill>
                  <a:srgbClr val="142C3C"/>
                </a:solidFill>
                <a:latin typeface="Inter"/>
              </a:rPr>
              <a:t>Better use of space.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83664"/>
            <a:ext cx="13395960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526779"/>
                </a:solidFill>
                <a:latin typeface="Inter"/>
              </a:rPr>
              <a:t>Arrange objects efficiently. Explore and improve the solution in 3D.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560320"/>
            <a:ext cx="6565392" cy="3803904"/>
          </a:xfrm>
          <a:prstGeom prst="roundRect">
            <a:avLst>
              <a:gd name="adj" fmla="val 7000"/>
            </a:avLst>
          </a:prstGeom>
          <a:solidFill>
            <a:srgbClr val="F5F8FA"/>
          </a:solidFill>
          <a:ln w="8890">
            <a:solidFill>
              <a:srgbClr val="DC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560320"/>
            <a:ext cx="6565392" cy="50292"/>
          </a:xfrm>
          <a:prstGeom prst="rect">
            <a:avLst/>
          </a:prstGeom>
          <a:solidFill>
            <a:srgbClr val="1C6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779776"/>
            <a:ext cx="60533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C667C"/>
                </a:solidFill>
                <a:latin typeface="Inter"/>
              </a:rPr>
              <a:t>TFG · DEGREE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191256"/>
            <a:ext cx="6053328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C3C"/>
                </a:solidFill>
                <a:latin typeface="Inter"/>
              </a:rPr>
              <a:t>Start with boxes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758184"/>
            <a:ext cx="606247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142C3C"/>
                </a:solidFill>
                <a:latin typeface="Inter"/>
              </a:rPr>
              <a:t>Build an interactive VR environment for packing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142C3C"/>
                </a:solidFill>
                <a:latin typeface="Inter"/>
              </a:rPr>
              <a:t>rectangular objects into a container.</a:t>
            </a:r>
          </a:p>
        </p:txBody>
      </p:sp>
      <p:pic>
        <p:nvPicPr>
          <p:cNvPr id="14" name="Picture 13" descr="optimisation-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249" y="4581144"/>
            <a:ext cx="4544477" cy="162763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443216" y="2560320"/>
            <a:ext cx="6565392" cy="3803904"/>
          </a:xfrm>
          <a:prstGeom prst="roundRect">
            <a:avLst>
              <a:gd name="adj" fmla="val 7000"/>
            </a:avLst>
          </a:prstGeom>
          <a:solidFill>
            <a:srgbClr val="F5F8FA"/>
          </a:solidFill>
          <a:ln w="8890">
            <a:solidFill>
              <a:srgbClr val="DC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43216" y="2560320"/>
            <a:ext cx="6565392" cy="50292"/>
          </a:xfrm>
          <a:prstGeom prst="rect">
            <a:avLst/>
          </a:prstGeom>
          <a:solidFill>
            <a:srgbClr val="7A4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9248" y="2779776"/>
            <a:ext cx="60533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7A426E"/>
                </a:solidFill>
                <a:latin typeface="Inter"/>
              </a:rPr>
              <a:t>TFM · MASTER’S 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3191256"/>
            <a:ext cx="6053328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C3C"/>
                </a:solidFill>
                <a:latin typeface="Inter"/>
              </a:rPr>
              <a:t>Go beyond regular shapes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3758184"/>
            <a:ext cx="606247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142C3C"/>
                </a:solidFill>
                <a:latin typeface="Inter"/>
              </a:rPr>
              <a:t>Explore irregular packing with optimisation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142C3C"/>
                </a:solidFill>
                <a:latin typeface="Inter"/>
              </a:rPr>
              <a:t>methods and user interaction in 3D or VR.</a:t>
            </a:r>
          </a:p>
        </p:txBody>
      </p:sp>
      <p:pic>
        <p:nvPicPr>
          <p:cNvPr id="20" name="Picture 19" descr="optimisation-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391" y="4581144"/>
            <a:ext cx="3707040" cy="1627632"/>
          </a:xfrm>
          <a:prstGeom prst="rect">
            <a:avLst/>
          </a:prstGeom>
        </p:spPr>
      </p:pic>
      <p:pic>
        <p:nvPicPr>
          <p:cNvPr id="21" name="Picture 20" descr="avatar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94944" y="6656832"/>
            <a:ext cx="914400" cy="914400"/>
          </a:xfrm>
          <a:prstGeom prst="ellipse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56231" y="66751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42C3C"/>
                </a:solidFill>
                <a:latin typeface="Inter"/>
              </a:rPr>
              <a:t>Andoni Mujika</a:t>
            </a:r>
          </a:p>
        </p:txBody>
      </p:sp>
      <p:sp>
        <p:nvSpPr>
          <p:cNvPr id="23" name="TextBox 22">
            <a:hlinkClick r:id="rId5"/>
          </p:cNvPr>
          <p:cNvSpPr txBox="1"/>
          <p:nvPr/>
        </p:nvSpPr>
        <p:spPr>
          <a:xfrm>
            <a:off x="1856231" y="7196328"/>
            <a:ext cx="4937760" cy="301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C667C"/>
                </a:solidFill>
                <a:latin typeface="Inter"/>
              </a:rPr>
              <a:t>andoni.mujika@ehu.eus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6766560"/>
            <a:ext cx="62636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C3C"/>
                </a:solidFill>
                <a:latin typeface="Inter"/>
              </a:rPr>
              <a:t>Algorithms + AI + interaction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7333488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779"/>
                </a:solidFill>
                <a:latin typeface="Inter"/>
              </a:rPr>
              <a:t>Bring your curiosity. Let’s define the project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MURGILDU · Welcome to the lab · 2026–2027</dc:title>
  <dc:subject>Student projects, Godot XR Game Jam, medical graphics and space optimisation</dc:subject>
  <dc:creator>MURGILDU 3D Laboratory</dc:creator>
  <cp:keywords>MURGILDU, EHU, VR, XR, TFG, TFM, Godot, healthcare, optimisation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